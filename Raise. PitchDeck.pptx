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 Avenir Next Arabic" panose="020B0503020202020204" pitchFamily="34" charset="-78"/>
      <p:regular r:id="rId12"/>
    </p:embeddedFont>
    <p:embeddedFont>
      <p:font typeface=" Avenir Next Arabic Bold" panose="020B0803020202020204" pitchFamily="34" charset="-78"/>
      <p:regular r:id="rId13"/>
      <p:bold r:id="rId14"/>
    </p:embeddedFont>
    <p:embeddedFont>
      <p:font typeface="Arimo" panose="020B0604020202020204" pitchFamily="3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0:10 — Hi, we're Raise. We built a secondary market for XRPL vault shares. Track 1, Loaded flavour.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0:20 — You deposit into an open-ended vault and get MPT shares. The broker lends the liquidity out. When you need your money back, the ledger refuses the withdrawal — tecINSUFFICIENT_FUNDS. Nothing is broken; this is the guardrail working. But your capital is stuck until borrowers repay.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0:25 — Raise gives those vaults a secondary exit. The seller sells their shares to another investor at a discount and gets XRP now. The buyer takes over the position and the yield. The vault and the loans are never touched.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0:25 — Both sides sign single-use intents in their own browser session. The server composes one XLS-56 Batch: the buyer's XRP and the seller's MPT shares move in the same ledger transaction. Either both legs settle or neither does.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1:30 video — full flow on Devnet: deposit, loan origination, blocked withdrawal, secondary sale via Batch, repayment, buyer redemption.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0:30 — We ran the Track 1 vanilla baseline, then went Loaded with Batch. We also tested settlement failing on purpose: underfunded buyer, seller no longer holding shares, and a replayed signed Batch — the ledger returned tefPAST_SEQ. In every case neither leg moved.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0:20 — Two independent browser sessions, no shared key material. We persist the transaction hash before submitting, so a refresh or a flaky network never authorises a second payment. We restarted the server mid-trade and both sides reconnected and settled.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0:30 — Three frictions we hit for real. Receivers need MPTokenAuthorize even with CanTransfer set, or you get tecNO_AUTH. A Batch returning tesSUCCESS tells you nothing about the inner economic effect — we verify inner transactions and metadata. And in V1.1 interest is realised at repayment, not origination; our doctor command reconciles that.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0:20 — Next: partial fills, multiple vaults, and RFQ with an order book. Closing line, then thank you.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2965028"/>
            <a:ext cx="1848907" cy="1676362"/>
            <a:chOff x="0" y="0"/>
            <a:chExt cx="2465210" cy="223514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65197" cy="2235200"/>
            </a:xfrm>
            <a:custGeom>
              <a:avLst/>
              <a:gdLst/>
              <a:ahLst/>
              <a:cxnLst/>
              <a:rect l="l" t="t" r="r" b="b"/>
              <a:pathLst>
                <a:path w="2465197" h="2235200">
                  <a:moveTo>
                    <a:pt x="0" y="0"/>
                  </a:moveTo>
                  <a:lnTo>
                    <a:pt x="2465197" y="0"/>
                  </a:lnTo>
                  <a:lnTo>
                    <a:pt x="2465197" y="2235200"/>
                  </a:lnTo>
                  <a:lnTo>
                    <a:pt x="0" y="223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r="-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398310" y="3399930"/>
            <a:ext cx="4297890" cy="1574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329"/>
              </a:lnSpc>
            </a:pPr>
            <a:r>
              <a:rPr lang="en-US" sz="12900" b="1" spc="-516" dirty="0">
                <a:solidFill>
                  <a:srgbClr val="F1F2E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raise</a:t>
            </a:r>
            <a:r>
              <a:rPr lang="en-US" sz="12900" b="1" spc="-516" dirty="0">
                <a:solidFill>
                  <a:srgbClr val="B8DDA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2414" y="4945769"/>
            <a:ext cx="11489829" cy="79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2"/>
              </a:lnSpc>
            </a:pPr>
            <a:r>
              <a:rPr lang="en-US" sz="6000" spc="-270" dirty="0">
                <a:solidFill>
                  <a:srgbClr val="F1F2E6"/>
                </a:solidFill>
                <a:latin typeface="Arimo"/>
                <a:ea typeface="Arimo"/>
                <a:cs typeface="Arimo"/>
                <a:sym typeface="Arimo"/>
              </a:rPr>
              <a:t>XRPL Vault-Share Secondary Market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6343059"/>
            <a:ext cx="11998328" cy="57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2"/>
              </a:lnSpc>
            </a:pPr>
            <a:r>
              <a:rPr lang="en-US" sz="3450">
                <a:solidFill>
                  <a:srgbClr val="C5E6A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Secondary liquidity for XRPL lending vaults.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0028" y="8918524"/>
            <a:ext cx="1367076" cy="609448"/>
            <a:chOff x="0" y="0"/>
            <a:chExt cx="1822768" cy="8125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2704" cy="812546"/>
            </a:xfrm>
            <a:custGeom>
              <a:avLst/>
              <a:gdLst/>
              <a:ahLst/>
              <a:cxnLst/>
              <a:rect l="l" t="t" r="r" b="b"/>
              <a:pathLst>
                <a:path w="1822704" h="812546">
                  <a:moveTo>
                    <a:pt x="0" y="406273"/>
                  </a:moveTo>
                  <a:cubicBezTo>
                    <a:pt x="0" y="181864"/>
                    <a:pt x="181864" y="0"/>
                    <a:pt x="406273" y="0"/>
                  </a:cubicBezTo>
                  <a:lnTo>
                    <a:pt x="1416431" y="0"/>
                  </a:lnTo>
                  <a:cubicBezTo>
                    <a:pt x="1640840" y="0"/>
                    <a:pt x="1822704" y="181864"/>
                    <a:pt x="1822704" y="406273"/>
                  </a:cubicBezTo>
                  <a:cubicBezTo>
                    <a:pt x="1822704" y="630682"/>
                    <a:pt x="1640840" y="812546"/>
                    <a:pt x="1416431" y="812546"/>
                  </a:cubicBezTo>
                  <a:lnTo>
                    <a:pt x="406273" y="812546"/>
                  </a:lnTo>
                  <a:cubicBezTo>
                    <a:pt x="181864" y="812546"/>
                    <a:pt x="0" y="630682"/>
                    <a:pt x="0" y="40627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198" r="-7201" b="-6"/>
              </a:stretch>
            </a:blipFill>
            <a:ln w="5953" cap="sq">
              <a:solidFill>
                <a:srgbClr val="3B4D3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95743" y="9049334"/>
            <a:ext cx="1338701" cy="39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05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Track 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634444" y="8918524"/>
            <a:ext cx="2492312" cy="609448"/>
            <a:chOff x="0" y="0"/>
            <a:chExt cx="3323082" cy="8125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23082" cy="812546"/>
            </a:xfrm>
            <a:custGeom>
              <a:avLst/>
              <a:gdLst/>
              <a:ahLst/>
              <a:cxnLst/>
              <a:rect l="l" t="t" r="r" b="b"/>
              <a:pathLst>
                <a:path w="3323082" h="812546">
                  <a:moveTo>
                    <a:pt x="0" y="406273"/>
                  </a:moveTo>
                  <a:cubicBezTo>
                    <a:pt x="0" y="181864"/>
                    <a:pt x="181864" y="0"/>
                    <a:pt x="406273" y="0"/>
                  </a:cubicBezTo>
                  <a:lnTo>
                    <a:pt x="2916809" y="0"/>
                  </a:lnTo>
                  <a:cubicBezTo>
                    <a:pt x="3141218" y="0"/>
                    <a:pt x="3323082" y="181864"/>
                    <a:pt x="3323082" y="406273"/>
                  </a:cubicBezTo>
                  <a:cubicBezTo>
                    <a:pt x="3323082" y="630682"/>
                    <a:pt x="3141218" y="812546"/>
                    <a:pt x="2916809" y="812546"/>
                  </a:cubicBezTo>
                  <a:lnTo>
                    <a:pt x="406273" y="812546"/>
                  </a:lnTo>
                  <a:cubicBezTo>
                    <a:pt x="181864" y="812546"/>
                    <a:pt x="0" y="630682"/>
                    <a:pt x="0" y="40627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685" b="-29691"/>
              </a:stretch>
            </a:blipFill>
            <a:ln w="5953" cap="sq">
              <a:solidFill>
                <a:srgbClr val="3B4D3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16422" y="9067152"/>
            <a:ext cx="2004555" cy="35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Flavour: Loaded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254095" y="8918524"/>
            <a:ext cx="4224299" cy="609448"/>
            <a:chOff x="0" y="0"/>
            <a:chExt cx="5632399" cy="8125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32323" cy="812546"/>
            </a:xfrm>
            <a:custGeom>
              <a:avLst/>
              <a:gdLst/>
              <a:ahLst/>
              <a:cxnLst/>
              <a:rect l="l" t="t" r="r" b="b"/>
              <a:pathLst>
                <a:path w="5632323" h="812546">
                  <a:moveTo>
                    <a:pt x="0" y="406273"/>
                  </a:moveTo>
                  <a:cubicBezTo>
                    <a:pt x="0" y="181864"/>
                    <a:pt x="181864" y="0"/>
                    <a:pt x="406273" y="0"/>
                  </a:cubicBezTo>
                  <a:lnTo>
                    <a:pt x="5226050" y="0"/>
                  </a:lnTo>
                  <a:cubicBezTo>
                    <a:pt x="5450459" y="0"/>
                    <a:pt x="5632323" y="181864"/>
                    <a:pt x="5632323" y="406273"/>
                  </a:cubicBezTo>
                  <a:cubicBezTo>
                    <a:pt x="5632323" y="630682"/>
                    <a:pt x="5450459" y="812546"/>
                    <a:pt x="5226050" y="812546"/>
                  </a:cubicBezTo>
                  <a:lnTo>
                    <a:pt x="406273" y="812546"/>
                  </a:lnTo>
                  <a:cubicBezTo>
                    <a:pt x="181864" y="812546"/>
                    <a:pt x="0" y="630682"/>
                    <a:pt x="0" y="40627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063" r="-1" b="-85069"/>
              </a:stretch>
            </a:blipFill>
            <a:ln w="5953" cap="sq">
              <a:solidFill>
                <a:srgbClr val="3B4D3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536082" y="9067152"/>
            <a:ext cx="3786892" cy="35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XLS-65 · XLS-66 · XLS-56 Batch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02522" y="9131370"/>
            <a:ext cx="4717075" cy="40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76"/>
              </a:lnSpc>
            </a:pPr>
            <a:r>
              <a:rPr lang="en-US" sz="210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Adam · Huilin · Lakhdar · Shenghuei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8403" y="892178"/>
            <a:ext cx="17551403" cy="26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 spc="264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02 / THE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8403" y="1857412"/>
            <a:ext cx="15722400" cy="72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0"/>
              </a:lnSpc>
            </a:pPr>
            <a:r>
              <a:rPr lang="en-US" sz="5700" spc="-313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An open-ended vault can refuse your withdrawal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0028" y="2991536"/>
            <a:ext cx="11231566" cy="945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55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The liquidity guardrail is correct behaviour — and it leaves the depositor with no exit.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40028" y="4641711"/>
            <a:ext cx="5162102" cy="3846665"/>
            <a:chOff x="0" y="0"/>
            <a:chExt cx="6882803" cy="51288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82892" cy="5128899"/>
            </a:xfrm>
            <a:custGeom>
              <a:avLst/>
              <a:gdLst/>
              <a:ahLst/>
              <a:cxnLst/>
              <a:rect l="l" t="t" r="r" b="b"/>
              <a:pathLst>
                <a:path w="6882892" h="5128899">
                  <a:moveTo>
                    <a:pt x="0" y="300062"/>
                  </a:moveTo>
                  <a:cubicBezTo>
                    <a:pt x="0" y="134309"/>
                    <a:pt x="113919" y="0"/>
                    <a:pt x="254508" y="0"/>
                  </a:cubicBezTo>
                  <a:lnTo>
                    <a:pt x="6628384" y="0"/>
                  </a:lnTo>
                  <a:cubicBezTo>
                    <a:pt x="6768973" y="0"/>
                    <a:pt x="6882892" y="134309"/>
                    <a:pt x="6882892" y="300062"/>
                  </a:cubicBezTo>
                  <a:lnTo>
                    <a:pt x="6882892" y="4828839"/>
                  </a:lnTo>
                  <a:cubicBezTo>
                    <a:pt x="6882892" y="4994592"/>
                    <a:pt x="6768973" y="5128899"/>
                    <a:pt x="6628384" y="5128899"/>
                  </a:cubicBezTo>
                  <a:lnTo>
                    <a:pt x="254508" y="5128899"/>
                  </a:lnTo>
                  <a:cubicBezTo>
                    <a:pt x="113919" y="5128899"/>
                    <a:pt x="0" y="4994592"/>
                    <a:pt x="0" y="4828839"/>
                  </a:cubicBezTo>
                  <a:close/>
                </a:path>
              </a:pathLst>
            </a:custGeom>
            <a:solidFill>
              <a:srgbClr val="FFFEF8"/>
            </a:solidFill>
            <a:ln w="5953" cap="sq">
              <a:solidFill>
                <a:srgbClr val="DCDE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55356" y="5409533"/>
            <a:ext cx="4769672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288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STEP 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5356" y="5928627"/>
            <a:ext cx="3589139" cy="36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700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Deposit into the vault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5356" y="6471447"/>
            <a:ext cx="4462910" cy="133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4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XLS-65 open-ended vault issues MPT shares to the depositor.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62858" y="4641711"/>
            <a:ext cx="5162198" cy="3846665"/>
            <a:chOff x="0" y="0"/>
            <a:chExt cx="6882930" cy="51288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83019" cy="5128899"/>
            </a:xfrm>
            <a:custGeom>
              <a:avLst/>
              <a:gdLst/>
              <a:ahLst/>
              <a:cxnLst/>
              <a:rect l="l" t="t" r="r" b="b"/>
              <a:pathLst>
                <a:path w="6883019" h="5128899">
                  <a:moveTo>
                    <a:pt x="0" y="300062"/>
                  </a:moveTo>
                  <a:cubicBezTo>
                    <a:pt x="0" y="134309"/>
                    <a:pt x="113919" y="0"/>
                    <a:pt x="254508" y="0"/>
                  </a:cubicBezTo>
                  <a:lnTo>
                    <a:pt x="6628511" y="0"/>
                  </a:lnTo>
                  <a:cubicBezTo>
                    <a:pt x="6769100" y="0"/>
                    <a:pt x="6883019" y="134309"/>
                    <a:pt x="6883019" y="300062"/>
                  </a:cubicBezTo>
                  <a:lnTo>
                    <a:pt x="6883019" y="4828839"/>
                  </a:lnTo>
                  <a:cubicBezTo>
                    <a:pt x="6883019" y="4994592"/>
                    <a:pt x="6769100" y="5128899"/>
                    <a:pt x="6628511" y="5128899"/>
                  </a:cubicBezTo>
                  <a:lnTo>
                    <a:pt x="254508" y="5128899"/>
                  </a:lnTo>
                  <a:cubicBezTo>
                    <a:pt x="113919" y="5128899"/>
                    <a:pt x="0" y="4994592"/>
                    <a:pt x="0" y="4828839"/>
                  </a:cubicBezTo>
                  <a:close/>
                </a:path>
              </a:pathLst>
            </a:custGeom>
            <a:solidFill>
              <a:srgbClr val="FFFEF8"/>
            </a:solidFill>
            <a:ln w="5953" cap="sq">
              <a:solidFill>
                <a:srgbClr val="DCDE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978186" y="5409533"/>
            <a:ext cx="4769768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288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STEP 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78056" y="5840025"/>
            <a:ext cx="3189015" cy="36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700" b="1" dirty="0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Liquidity is lent out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78056" y="6713323"/>
            <a:ext cx="4463005" cy="133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400" dirty="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The broker originates an XLS-66 loan. Available XRP goes to zero.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985784" y="4641711"/>
            <a:ext cx="5162198" cy="3734361"/>
            <a:chOff x="0" y="0"/>
            <a:chExt cx="6882930" cy="49791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83019" cy="4979160"/>
            </a:xfrm>
            <a:custGeom>
              <a:avLst/>
              <a:gdLst/>
              <a:ahLst/>
              <a:cxnLst/>
              <a:rect l="l" t="t" r="r" b="b"/>
              <a:pathLst>
                <a:path w="6883019" h="4979160">
                  <a:moveTo>
                    <a:pt x="0" y="291302"/>
                  </a:moveTo>
                  <a:cubicBezTo>
                    <a:pt x="0" y="130388"/>
                    <a:pt x="113919" y="0"/>
                    <a:pt x="254508" y="0"/>
                  </a:cubicBezTo>
                  <a:lnTo>
                    <a:pt x="6628511" y="0"/>
                  </a:lnTo>
                  <a:cubicBezTo>
                    <a:pt x="6769100" y="0"/>
                    <a:pt x="6883019" y="130388"/>
                    <a:pt x="6883019" y="291302"/>
                  </a:cubicBezTo>
                  <a:lnTo>
                    <a:pt x="6883019" y="4687861"/>
                  </a:lnTo>
                  <a:cubicBezTo>
                    <a:pt x="6883019" y="4848774"/>
                    <a:pt x="6769100" y="4979160"/>
                    <a:pt x="6628511" y="4979160"/>
                  </a:cubicBezTo>
                  <a:lnTo>
                    <a:pt x="254508" y="4979160"/>
                  </a:lnTo>
                  <a:cubicBezTo>
                    <a:pt x="113919" y="4979160"/>
                    <a:pt x="0" y="4848774"/>
                    <a:pt x="0" y="4687861"/>
                  </a:cubicBezTo>
                  <a:close/>
                </a:path>
              </a:pathLst>
            </a:custGeom>
            <a:solidFill>
              <a:srgbClr val="233D32"/>
            </a:solidFill>
            <a:ln w="5953" cap="sq">
              <a:solidFill>
                <a:srgbClr val="233D3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401112" y="5409533"/>
            <a:ext cx="4769768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288">
                <a:solidFill>
                  <a:srgbClr val="B3BFAE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STEP 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51541" y="5743709"/>
            <a:ext cx="3754413" cy="36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700" b="1" dirty="0">
                <a:solidFill>
                  <a:srgbClr val="F1F2E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Withdrawal is rejected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01112" y="6578749"/>
            <a:ext cx="4463005" cy="133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400" dirty="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The ledger refuses the payout while the loans are still outstanding.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8403" y="9240841"/>
            <a:ext cx="580253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raise</a:t>
            </a:r>
            <a:r>
              <a:rPr lang="en-US" sz="1800">
                <a:solidFill>
                  <a:srgbClr val="39704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66258" y="9240841"/>
            <a:ext cx="729539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02 ·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8403" y="892178"/>
            <a:ext cx="17551403" cy="26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 spc="264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03 / THE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8403" y="1730321"/>
            <a:ext cx="9930482" cy="72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0"/>
              </a:lnSpc>
            </a:pPr>
            <a:r>
              <a:rPr lang="en-US" sz="5700" spc="-313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 secondary exit for locked shares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40028" y="3971382"/>
            <a:ext cx="5136804" cy="3701825"/>
            <a:chOff x="0" y="0"/>
            <a:chExt cx="6849072" cy="49357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49110" cy="4935728"/>
            </a:xfrm>
            <a:custGeom>
              <a:avLst/>
              <a:gdLst/>
              <a:ahLst/>
              <a:cxnLst/>
              <a:rect l="l" t="t" r="r" b="b"/>
              <a:pathLst>
                <a:path w="6849110" h="4935728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6543802" y="0"/>
                  </a:lnTo>
                  <a:cubicBezTo>
                    <a:pt x="6712458" y="0"/>
                    <a:pt x="6849110" y="136652"/>
                    <a:pt x="6849110" y="305308"/>
                  </a:cubicBezTo>
                  <a:lnTo>
                    <a:pt x="6849110" y="4630420"/>
                  </a:lnTo>
                  <a:cubicBezTo>
                    <a:pt x="6849110" y="4799076"/>
                    <a:pt x="6712458" y="4935728"/>
                    <a:pt x="6543802" y="4935728"/>
                  </a:cubicBezTo>
                  <a:lnTo>
                    <a:pt x="305308" y="4935728"/>
                  </a:lnTo>
                  <a:cubicBezTo>
                    <a:pt x="136652" y="4935728"/>
                    <a:pt x="0" y="4799076"/>
                    <a:pt x="0" y="4630420"/>
                  </a:cubicBezTo>
                  <a:close/>
                </a:path>
              </a:pathLst>
            </a:custGeom>
            <a:solidFill>
              <a:srgbClr val="FFFEF8"/>
            </a:solidFill>
            <a:ln w="5953" cap="sq">
              <a:solidFill>
                <a:srgbClr val="DCDE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31537" y="4539082"/>
            <a:ext cx="4574238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288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SELLER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1537" y="5105743"/>
            <a:ext cx="4574238" cy="41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3150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Sets the discount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1537" y="5728602"/>
            <a:ext cx="4279916" cy="141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55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Price the urgency yourself instead of waiting for repayment.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575603" y="3971382"/>
            <a:ext cx="5136804" cy="3701825"/>
            <a:chOff x="0" y="0"/>
            <a:chExt cx="6849072" cy="49357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49110" cy="4935728"/>
            </a:xfrm>
            <a:custGeom>
              <a:avLst/>
              <a:gdLst/>
              <a:ahLst/>
              <a:cxnLst/>
              <a:rect l="l" t="t" r="r" b="b"/>
              <a:pathLst>
                <a:path w="6849110" h="4935728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6543802" y="0"/>
                  </a:lnTo>
                  <a:cubicBezTo>
                    <a:pt x="6712458" y="0"/>
                    <a:pt x="6849110" y="136652"/>
                    <a:pt x="6849110" y="305308"/>
                  </a:cubicBezTo>
                  <a:lnTo>
                    <a:pt x="6849110" y="4630420"/>
                  </a:lnTo>
                  <a:cubicBezTo>
                    <a:pt x="6849110" y="4799076"/>
                    <a:pt x="6712458" y="4935728"/>
                    <a:pt x="6543802" y="4935728"/>
                  </a:cubicBezTo>
                  <a:lnTo>
                    <a:pt x="305308" y="4935728"/>
                  </a:lnTo>
                  <a:cubicBezTo>
                    <a:pt x="136652" y="4935728"/>
                    <a:pt x="0" y="4799076"/>
                    <a:pt x="0" y="4630420"/>
                  </a:cubicBezTo>
                  <a:close/>
                </a:path>
              </a:pathLst>
            </a:custGeom>
            <a:solidFill>
              <a:srgbClr val="FFFEF8"/>
            </a:solidFill>
            <a:ln w="5953" cap="sq">
              <a:solidFill>
                <a:srgbClr val="DCDE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067112" y="4539082"/>
            <a:ext cx="4574238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288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BUYER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67112" y="5105743"/>
            <a:ext cx="4574238" cy="41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3150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Takes the position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67112" y="5728602"/>
            <a:ext cx="4279916" cy="141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55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Shares bought below book value, with the accruing yield attached.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11177" y="3971382"/>
            <a:ext cx="5136804" cy="3701825"/>
            <a:chOff x="0" y="0"/>
            <a:chExt cx="6849072" cy="49357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49110" cy="4935728"/>
            </a:xfrm>
            <a:custGeom>
              <a:avLst/>
              <a:gdLst/>
              <a:ahLst/>
              <a:cxnLst/>
              <a:rect l="l" t="t" r="r" b="b"/>
              <a:pathLst>
                <a:path w="6849110" h="4935728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6543802" y="0"/>
                  </a:lnTo>
                  <a:cubicBezTo>
                    <a:pt x="6712458" y="0"/>
                    <a:pt x="6849110" y="136652"/>
                    <a:pt x="6849110" y="305308"/>
                  </a:cubicBezTo>
                  <a:lnTo>
                    <a:pt x="6849110" y="4630420"/>
                  </a:lnTo>
                  <a:cubicBezTo>
                    <a:pt x="6849110" y="4799076"/>
                    <a:pt x="6712458" y="4935728"/>
                    <a:pt x="6543802" y="4935728"/>
                  </a:cubicBezTo>
                  <a:lnTo>
                    <a:pt x="305308" y="4935728"/>
                  </a:lnTo>
                  <a:cubicBezTo>
                    <a:pt x="136652" y="4935728"/>
                    <a:pt x="0" y="4799076"/>
                    <a:pt x="0" y="4630420"/>
                  </a:cubicBezTo>
                  <a:close/>
                </a:path>
              </a:pathLst>
            </a:custGeom>
            <a:solidFill>
              <a:srgbClr val="E0ECCF"/>
            </a:solidFill>
            <a:ln w="5953" cap="sq">
              <a:solidFill>
                <a:srgbClr val="C5E6A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502686" y="4539082"/>
            <a:ext cx="4574238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288">
                <a:solidFill>
                  <a:srgbClr val="397044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VAULT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02686" y="5105743"/>
            <a:ext cx="4574238" cy="41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3150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Stays untouched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02686" y="5728602"/>
            <a:ext cx="4279916" cy="141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550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No early loan recall, no protocol change. Only share ownership moves.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8403" y="9240841"/>
            <a:ext cx="580253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raise</a:t>
            </a:r>
            <a:r>
              <a:rPr lang="en-US" sz="1800">
                <a:solidFill>
                  <a:srgbClr val="39704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66258" y="9240841"/>
            <a:ext cx="729539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03 ·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8403" y="892178"/>
            <a:ext cx="17551403" cy="26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 spc="264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04 / HOW IT WORKS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8403" y="1730321"/>
            <a:ext cx="9703073" cy="72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0"/>
              </a:lnSpc>
            </a:pPr>
            <a:r>
              <a:rPr lang="en-US" sz="5700" spc="-313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One Batch, both legs, no custody</a:t>
            </a:r>
          </a:p>
        </p:txBody>
      </p:sp>
      <p:sp>
        <p:nvSpPr>
          <p:cNvPr id="4" name="Freeform 4" descr="preencoded.png"/>
          <p:cNvSpPr/>
          <p:nvPr/>
        </p:nvSpPr>
        <p:spPr>
          <a:xfrm>
            <a:off x="1143000" y="4089892"/>
            <a:ext cx="1136113" cy="1123931"/>
          </a:xfrm>
          <a:custGeom>
            <a:avLst/>
            <a:gdLst/>
            <a:ahLst/>
            <a:cxnLst/>
            <a:rect l="l" t="t" r="r" b="b"/>
            <a:pathLst>
              <a:path w="1136113" h="1123931">
                <a:moveTo>
                  <a:pt x="0" y="0"/>
                </a:moveTo>
                <a:lnTo>
                  <a:pt x="1136113" y="0"/>
                </a:lnTo>
                <a:lnTo>
                  <a:pt x="1136113" y="1123931"/>
                </a:lnTo>
                <a:lnTo>
                  <a:pt x="0" y="1123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55" r="-36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590267" y="4079015"/>
            <a:ext cx="3566389" cy="326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spc="312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SELLER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90267" y="4532643"/>
            <a:ext cx="3336207" cy="73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2400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Signs: deliver MPT shares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" y="5974051"/>
            <a:ext cx="1219181" cy="1123931"/>
          </a:xfrm>
          <a:custGeom>
            <a:avLst/>
            <a:gdLst/>
            <a:ahLst/>
            <a:cxnLst/>
            <a:rect l="l" t="t" r="r" b="b"/>
            <a:pathLst>
              <a:path w="1219181" h="1123931">
                <a:moveTo>
                  <a:pt x="0" y="0"/>
                </a:moveTo>
                <a:lnTo>
                  <a:pt x="1219181" y="0"/>
                </a:lnTo>
                <a:lnTo>
                  <a:pt x="1219181" y="1123931"/>
                </a:lnTo>
                <a:lnTo>
                  <a:pt x="0" y="1123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23" b="-4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673334" y="6153588"/>
            <a:ext cx="2210352" cy="326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spc="312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BUYER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73334" y="6607216"/>
            <a:ext cx="2210352" cy="34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2400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Signs: pay XRP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5900852" y="4337599"/>
            <a:ext cx="1143000" cy="2476500"/>
          </a:xfrm>
          <a:custGeom>
            <a:avLst/>
            <a:gdLst/>
            <a:ahLst/>
            <a:cxnLst/>
            <a:rect l="l" t="t" r="r" b="b"/>
            <a:pathLst>
              <a:path w="1143000" h="2476500">
                <a:moveTo>
                  <a:pt x="0" y="0"/>
                </a:moveTo>
                <a:lnTo>
                  <a:pt x="1143000" y="0"/>
                </a:lnTo>
                <a:lnTo>
                  <a:pt x="1143000" y="2476500"/>
                </a:lnTo>
                <a:lnTo>
                  <a:pt x="0" y="2476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 descr="preencoded.png"/>
          <p:cNvSpPr/>
          <p:nvPr/>
        </p:nvSpPr>
        <p:spPr>
          <a:xfrm>
            <a:off x="8246469" y="3658381"/>
            <a:ext cx="2400224" cy="2228793"/>
          </a:xfrm>
          <a:custGeom>
            <a:avLst/>
            <a:gdLst/>
            <a:ahLst/>
            <a:cxnLst/>
            <a:rect l="l" t="t" r="r" b="b"/>
            <a:pathLst>
              <a:path w="2400224" h="2228793">
                <a:moveTo>
                  <a:pt x="0" y="0"/>
                </a:moveTo>
                <a:lnTo>
                  <a:pt x="2400224" y="0"/>
                </a:lnTo>
                <a:lnTo>
                  <a:pt x="2400224" y="2228793"/>
                </a:lnTo>
                <a:lnTo>
                  <a:pt x="0" y="22287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98" r="-1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859744" y="6141120"/>
            <a:ext cx="3173587" cy="326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 spc="312">
                <a:solidFill>
                  <a:srgbClr val="397044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ONE XLS-56 BATCH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46224" y="6728041"/>
            <a:ext cx="4800733" cy="737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2649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XRP and shares move in the same ledger transaction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1954066" y="5452043"/>
            <a:ext cx="552431" cy="247612"/>
          </a:xfrm>
          <a:custGeom>
            <a:avLst/>
            <a:gdLst/>
            <a:ahLst/>
            <a:cxnLst/>
            <a:rect l="l" t="t" r="r" b="b"/>
            <a:pathLst>
              <a:path w="552431" h="247612">
                <a:moveTo>
                  <a:pt x="0" y="0"/>
                </a:moveTo>
                <a:lnTo>
                  <a:pt x="552430" y="0"/>
                </a:lnTo>
                <a:lnTo>
                  <a:pt x="552430" y="247612"/>
                </a:lnTo>
                <a:lnTo>
                  <a:pt x="0" y="2476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" b="-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 descr="preencoded.png"/>
          <p:cNvSpPr/>
          <p:nvPr/>
        </p:nvSpPr>
        <p:spPr>
          <a:xfrm>
            <a:off x="13816089" y="3791769"/>
            <a:ext cx="2171681" cy="2000250"/>
          </a:xfrm>
          <a:custGeom>
            <a:avLst/>
            <a:gdLst/>
            <a:ahLst/>
            <a:cxnLst/>
            <a:rect l="l" t="t" r="r" b="b"/>
            <a:pathLst>
              <a:path w="2171681" h="2000250">
                <a:moveTo>
                  <a:pt x="0" y="0"/>
                </a:moveTo>
                <a:lnTo>
                  <a:pt x="2171681" y="0"/>
                </a:lnTo>
                <a:lnTo>
                  <a:pt x="2171681" y="2000250"/>
                </a:lnTo>
                <a:lnTo>
                  <a:pt x="0" y="2000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37" b="-2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3474856" y="6045965"/>
            <a:ext cx="2854042" cy="326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 spc="312">
                <a:solidFill>
                  <a:srgbClr val="397044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ALL OR NOTHING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17063" y="6613836"/>
            <a:ext cx="4569743" cy="75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0"/>
              </a:lnSpc>
            </a:pPr>
            <a:r>
              <a:rPr lang="en-US" sz="2250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Both legs settle, or neither does. No escrow, no custody.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8403" y="8824122"/>
            <a:ext cx="17551403" cy="404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Buyer then redeems principal and accrued yield through VaultWithdraw once borrowers repay.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8403" y="9240841"/>
            <a:ext cx="580253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raise</a:t>
            </a:r>
            <a:r>
              <a:rPr lang="en-US" sz="1800">
                <a:solidFill>
                  <a:srgbClr val="39704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66258" y="9240841"/>
            <a:ext cx="729539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04 ·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8403" y="892178"/>
            <a:ext cx="17551403" cy="26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 spc="264">
                <a:solidFill>
                  <a:srgbClr val="B3BFAE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05 / LIVE DEMO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8403" y="1768421"/>
            <a:ext cx="9448819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40"/>
              </a:lnSpc>
            </a:pPr>
            <a:r>
              <a:rPr lang="en-US" sz="6600" b="1" spc="-363" dirty="0">
                <a:solidFill>
                  <a:srgbClr val="F1F2E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The full flow on </a:t>
            </a:r>
            <a:r>
              <a:rPr lang="en-US" sz="6600" b="1" spc="-363" dirty="0" err="1">
                <a:solidFill>
                  <a:srgbClr val="F1F2E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Devnet</a:t>
            </a:r>
            <a:endParaRPr lang="en-US" sz="6600" b="1" spc="-363" dirty="0">
              <a:solidFill>
                <a:srgbClr val="F1F2E6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68403" y="2830582"/>
            <a:ext cx="1050179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Deposit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59860" y="2830582"/>
            <a:ext cx="311153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19558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12291" y="2830582"/>
            <a:ext cx="659225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Loan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12794" y="2830582"/>
            <a:ext cx="311153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19558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225" y="2830582"/>
            <a:ext cx="2745791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dirty="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Blocked withdrawal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74262" y="2830582"/>
            <a:ext cx="311153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19558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26693" y="2830582"/>
            <a:ext cx="2117760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Secondary sale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64791" y="2830582"/>
            <a:ext cx="311153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19558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17222" y="2830582"/>
            <a:ext cx="1574035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Repayment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61021" y="2830582"/>
            <a:ext cx="311153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19558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→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13452" y="2830582"/>
            <a:ext cx="2120932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C5E6A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Buyer redeems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40028" y="3655866"/>
            <a:ext cx="16007953" cy="5187496"/>
            <a:chOff x="0" y="0"/>
            <a:chExt cx="21343938" cy="69166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44001" cy="6916675"/>
            </a:xfrm>
            <a:custGeom>
              <a:avLst/>
              <a:gdLst/>
              <a:ahLst/>
              <a:cxnLst/>
              <a:rect l="l" t="t" r="r" b="b"/>
              <a:pathLst>
                <a:path w="21344001" h="6916675">
                  <a:moveTo>
                    <a:pt x="0" y="305181"/>
                  </a:moveTo>
                  <a:cubicBezTo>
                    <a:pt x="0" y="136652"/>
                    <a:pt x="136652" y="0"/>
                    <a:pt x="305181" y="0"/>
                  </a:cubicBezTo>
                  <a:lnTo>
                    <a:pt x="21038820" y="0"/>
                  </a:lnTo>
                  <a:cubicBezTo>
                    <a:pt x="21207349" y="0"/>
                    <a:pt x="21344001" y="136652"/>
                    <a:pt x="21344001" y="305181"/>
                  </a:cubicBezTo>
                  <a:lnTo>
                    <a:pt x="21344001" y="6611493"/>
                  </a:lnTo>
                  <a:cubicBezTo>
                    <a:pt x="21344001" y="6780023"/>
                    <a:pt x="21207349" y="6916675"/>
                    <a:pt x="21038820" y="6916675"/>
                  </a:cubicBezTo>
                  <a:lnTo>
                    <a:pt x="305181" y="6916675"/>
                  </a:lnTo>
                  <a:cubicBezTo>
                    <a:pt x="136652" y="6916674"/>
                    <a:pt x="0" y="6780022"/>
                    <a:pt x="0" y="6611493"/>
                  </a:cubicBezTo>
                  <a:close/>
                </a:path>
              </a:pathLst>
            </a:custGeom>
            <a:solidFill>
              <a:srgbClr val="213127"/>
            </a:solidFill>
            <a:ln w="5953" cap="sq">
              <a:solidFill>
                <a:srgbClr val="3B4D3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001723" y="5815984"/>
            <a:ext cx="4718104" cy="31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3BFAE"/>
                </a:solidFill>
                <a:latin typeface="Courier New"/>
                <a:ea typeface="Courier New"/>
                <a:cs typeface="Courier New"/>
                <a:sym typeface="Courier New"/>
              </a:rPr>
              <a:t>recorded walkthrough · 1:30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71974" y="6322000"/>
            <a:ext cx="2143544" cy="3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1F2E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Play video here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8403" y="9240841"/>
            <a:ext cx="580253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raise</a:t>
            </a:r>
            <a:r>
              <a:rPr lang="en-US" sz="1800">
                <a:solidFill>
                  <a:srgbClr val="B8DDA0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66258" y="9240841"/>
            <a:ext cx="729539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05 ·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8403" y="892178"/>
            <a:ext cx="17551403" cy="26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 spc="264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06 / ATOMIC SETTLEMENT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8403" y="1654140"/>
            <a:ext cx="11556997" cy="721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10"/>
              </a:lnSpc>
            </a:pPr>
            <a:r>
              <a:rPr lang="en-US" sz="5700" spc="-313" dirty="0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We tested settlement by making it fail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40028" y="2769041"/>
            <a:ext cx="8557241" cy="6030325"/>
            <a:chOff x="0" y="0"/>
            <a:chExt cx="11409655" cy="80404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09680" cy="8040498"/>
            </a:xfrm>
            <a:custGeom>
              <a:avLst/>
              <a:gdLst/>
              <a:ahLst/>
              <a:cxnLst/>
              <a:rect l="l" t="t" r="r" b="b"/>
              <a:pathLst>
                <a:path w="11409680" h="8040498">
                  <a:moveTo>
                    <a:pt x="0" y="305181"/>
                  </a:moveTo>
                  <a:cubicBezTo>
                    <a:pt x="0" y="136652"/>
                    <a:pt x="136652" y="0"/>
                    <a:pt x="305181" y="0"/>
                  </a:cubicBezTo>
                  <a:lnTo>
                    <a:pt x="11104499" y="0"/>
                  </a:lnTo>
                  <a:cubicBezTo>
                    <a:pt x="11273028" y="0"/>
                    <a:pt x="11409680" y="136652"/>
                    <a:pt x="11409680" y="305181"/>
                  </a:cubicBezTo>
                  <a:lnTo>
                    <a:pt x="11409680" y="7735316"/>
                  </a:lnTo>
                  <a:cubicBezTo>
                    <a:pt x="11409680" y="7903845"/>
                    <a:pt x="11273028" y="8040498"/>
                    <a:pt x="11104499" y="8040498"/>
                  </a:cubicBezTo>
                  <a:lnTo>
                    <a:pt x="305181" y="8040498"/>
                  </a:lnTo>
                  <a:cubicBezTo>
                    <a:pt x="136652" y="8040497"/>
                    <a:pt x="0" y="7903845"/>
                    <a:pt x="0" y="7735316"/>
                  </a:cubicBezTo>
                  <a:close/>
                </a:path>
              </a:pathLst>
            </a:custGeom>
            <a:solidFill>
              <a:srgbClr val="E0ECCF"/>
            </a:solidFill>
            <a:ln w="5953" cap="sq">
              <a:solidFill>
                <a:srgbClr val="C5E6A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69580" y="3705179"/>
            <a:ext cx="7724604" cy="952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3549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Three failure cases, no partial settlement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44177" y="5672490"/>
            <a:ext cx="7548934" cy="9525"/>
            <a:chOff x="0" y="0"/>
            <a:chExt cx="10065245" cy="127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65258" cy="12700"/>
            </a:xfrm>
            <a:custGeom>
              <a:avLst/>
              <a:gdLst/>
              <a:ahLst/>
              <a:cxnLst/>
              <a:rect l="l" t="t" r="r" b="b"/>
              <a:pathLst>
                <a:path w="10065258" h="12700">
                  <a:moveTo>
                    <a:pt x="0" y="0"/>
                  </a:moveTo>
                  <a:lnTo>
                    <a:pt x="10065258" y="0"/>
                  </a:lnTo>
                  <a:lnTo>
                    <a:pt x="1006525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5E6A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69580" y="5139509"/>
            <a:ext cx="3609261" cy="37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2250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Buyer balance insufficient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15664" y="5121650"/>
            <a:ext cx="2152336" cy="39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39704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no legs moved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44177" y="6445186"/>
            <a:ext cx="7548934" cy="9525"/>
            <a:chOff x="0" y="0"/>
            <a:chExt cx="10065245" cy="12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65258" cy="12700"/>
            </a:xfrm>
            <a:custGeom>
              <a:avLst/>
              <a:gdLst/>
              <a:ahLst/>
              <a:cxnLst/>
              <a:rect l="l" t="t" r="r" b="b"/>
              <a:pathLst>
                <a:path w="10065258" h="12700">
                  <a:moveTo>
                    <a:pt x="0" y="0"/>
                  </a:moveTo>
                  <a:lnTo>
                    <a:pt x="10065258" y="0"/>
                  </a:lnTo>
                  <a:lnTo>
                    <a:pt x="1006525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5E6A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69580" y="5912206"/>
            <a:ext cx="4645247" cy="37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2250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Seller no longer holds the shares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15664" y="5894346"/>
            <a:ext cx="2152336" cy="39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39704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no legs moved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9580" y="6667043"/>
            <a:ext cx="3669630" cy="37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2250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Signed Batch resubmitted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63003" y="6663471"/>
            <a:ext cx="2100262" cy="34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986022"/>
                </a:solidFill>
                <a:latin typeface="Courier New"/>
                <a:ea typeface="Courier New"/>
                <a:cs typeface="Courier New"/>
                <a:sym typeface="Courier New"/>
              </a:rPr>
              <a:t>tefPAST_SEQ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69580" y="7395648"/>
            <a:ext cx="8253032" cy="39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Reproducible with npm run settlement.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29234" y="4360945"/>
            <a:ext cx="7474382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288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BASELINE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9234" y="4756233"/>
            <a:ext cx="6995503" cy="850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Track 1 vanilla flow runs end to end via npm run vanilla 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29234" y="6000102"/>
            <a:ext cx="7474382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288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LOADED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29234" y="6395390"/>
            <a:ext cx="6995503" cy="850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XLS-56 Batch settles both legs together, so a half-completed trade is not representable.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8403" y="9240841"/>
            <a:ext cx="580253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raise</a:t>
            </a:r>
            <a:r>
              <a:rPr lang="en-US" sz="1800">
                <a:solidFill>
                  <a:srgbClr val="39704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466258" y="9240841"/>
            <a:ext cx="729539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06 ·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8403" y="892178"/>
            <a:ext cx="17551403" cy="26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 spc="264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07 /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8403" y="1730321"/>
            <a:ext cx="12662297" cy="72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0"/>
              </a:lnSpc>
            </a:pPr>
            <a:r>
              <a:rPr lang="en-US" sz="5700" spc="-313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 shared marketplace with a durable server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40028" y="3802424"/>
            <a:ext cx="5136804" cy="4107038"/>
            <a:chOff x="0" y="0"/>
            <a:chExt cx="6849072" cy="54760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49110" cy="5476019"/>
            </a:xfrm>
            <a:custGeom>
              <a:avLst/>
              <a:gdLst/>
              <a:ahLst/>
              <a:cxnLst/>
              <a:rect l="l" t="t" r="r" b="b"/>
              <a:pathLst>
                <a:path w="6849110" h="5476019">
                  <a:moveTo>
                    <a:pt x="0" y="440563"/>
                  </a:moveTo>
                  <a:cubicBezTo>
                    <a:pt x="0" y="197272"/>
                    <a:pt x="159512" y="0"/>
                    <a:pt x="356235" y="0"/>
                  </a:cubicBezTo>
                  <a:lnTo>
                    <a:pt x="6492875" y="0"/>
                  </a:lnTo>
                  <a:cubicBezTo>
                    <a:pt x="6689598" y="0"/>
                    <a:pt x="6849110" y="197272"/>
                    <a:pt x="6849110" y="440563"/>
                  </a:cubicBezTo>
                  <a:lnTo>
                    <a:pt x="6849110" y="5035456"/>
                  </a:lnTo>
                  <a:cubicBezTo>
                    <a:pt x="6849110" y="5278748"/>
                    <a:pt x="6689598" y="5476019"/>
                    <a:pt x="6492875" y="5476019"/>
                  </a:cubicBezTo>
                  <a:lnTo>
                    <a:pt x="356235" y="5476019"/>
                  </a:lnTo>
                  <a:cubicBezTo>
                    <a:pt x="159512" y="5476019"/>
                    <a:pt x="0" y="5278748"/>
                    <a:pt x="0" y="5035456"/>
                  </a:cubicBezTo>
                  <a:close/>
                </a:path>
              </a:pathLst>
            </a:custGeom>
            <a:solidFill>
              <a:srgbClr val="FFFEF8"/>
            </a:solidFill>
            <a:ln w="5953" cap="sq">
              <a:solidFill>
                <a:srgbClr val="DCDE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69580" y="4824774"/>
            <a:ext cx="3882033" cy="46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3450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Separated signing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9580" y="5499964"/>
            <a:ext cx="4201544" cy="141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55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Buyer and seller authorise from their own sessions. Each intent is single-use.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575603" y="3343034"/>
            <a:ext cx="5136804" cy="4980886"/>
            <a:chOff x="0" y="0"/>
            <a:chExt cx="6849072" cy="66411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48983" cy="6641195"/>
            </a:xfrm>
            <a:custGeom>
              <a:avLst/>
              <a:gdLst/>
              <a:ahLst/>
              <a:cxnLst/>
              <a:rect l="l" t="t" r="r" b="b"/>
              <a:pathLst>
                <a:path w="6848983" h="6641195">
                  <a:moveTo>
                    <a:pt x="0" y="467946"/>
                  </a:moveTo>
                  <a:cubicBezTo>
                    <a:pt x="0" y="209608"/>
                    <a:pt x="159512" y="0"/>
                    <a:pt x="356108" y="0"/>
                  </a:cubicBezTo>
                  <a:lnTo>
                    <a:pt x="6492875" y="0"/>
                  </a:lnTo>
                  <a:cubicBezTo>
                    <a:pt x="6689598" y="0"/>
                    <a:pt x="6848983" y="209608"/>
                    <a:pt x="6848983" y="467946"/>
                  </a:cubicBezTo>
                  <a:lnTo>
                    <a:pt x="6848983" y="6173252"/>
                  </a:lnTo>
                  <a:cubicBezTo>
                    <a:pt x="6848983" y="6431757"/>
                    <a:pt x="6689471" y="6641195"/>
                    <a:pt x="6492875" y="6641195"/>
                  </a:cubicBezTo>
                  <a:lnTo>
                    <a:pt x="356108" y="6641195"/>
                  </a:lnTo>
                  <a:cubicBezTo>
                    <a:pt x="159512" y="6641195"/>
                    <a:pt x="0" y="6431591"/>
                    <a:pt x="0" y="6173252"/>
                  </a:cubicBezTo>
                  <a:close/>
                </a:path>
              </a:pathLst>
            </a:custGeom>
            <a:solidFill>
              <a:srgbClr val="FFFEF8"/>
            </a:solidFill>
            <a:ln w="5953" cap="sq">
              <a:solidFill>
                <a:srgbClr val="DCDE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105155" y="4589993"/>
            <a:ext cx="4087118" cy="46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3450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Idempotent submit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05155" y="5265191"/>
            <a:ext cx="4201544" cy="1884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55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The hash is persisted before submission, so a retry or reload cannot pay twice.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011177" y="3802424"/>
            <a:ext cx="5136804" cy="4107038"/>
            <a:chOff x="0" y="0"/>
            <a:chExt cx="6849072" cy="54760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49110" cy="5476019"/>
            </a:xfrm>
            <a:custGeom>
              <a:avLst/>
              <a:gdLst/>
              <a:ahLst/>
              <a:cxnLst/>
              <a:rect l="l" t="t" r="r" b="b"/>
              <a:pathLst>
                <a:path w="6849110" h="5476019">
                  <a:moveTo>
                    <a:pt x="0" y="440563"/>
                  </a:moveTo>
                  <a:cubicBezTo>
                    <a:pt x="0" y="197272"/>
                    <a:pt x="159512" y="0"/>
                    <a:pt x="356235" y="0"/>
                  </a:cubicBezTo>
                  <a:lnTo>
                    <a:pt x="6492875" y="0"/>
                  </a:lnTo>
                  <a:cubicBezTo>
                    <a:pt x="6689598" y="0"/>
                    <a:pt x="6849110" y="197272"/>
                    <a:pt x="6849110" y="440563"/>
                  </a:cubicBezTo>
                  <a:lnTo>
                    <a:pt x="6849110" y="5035456"/>
                  </a:lnTo>
                  <a:cubicBezTo>
                    <a:pt x="6849110" y="5278748"/>
                    <a:pt x="6689598" y="5476019"/>
                    <a:pt x="6492875" y="5476019"/>
                  </a:cubicBezTo>
                  <a:lnTo>
                    <a:pt x="356235" y="5476019"/>
                  </a:lnTo>
                  <a:cubicBezTo>
                    <a:pt x="159512" y="5476019"/>
                    <a:pt x="0" y="5278748"/>
                    <a:pt x="0" y="5035456"/>
                  </a:cubicBezTo>
                  <a:close/>
                </a:path>
              </a:pathLst>
            </a:custGeom>
            <a:solidFill>
              <a:srgbClr val="FFFEF8"/>
            </a:solidFill>
            <a:ln w="5953" cap="sq">
              <a:solidFill>
                <a:srgbClr val="DCDE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540729" y="4824774"/>
            <a:ext cx="3478932" cy="46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3450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Restart recovery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40729" y="5499964"/>
            <a:ext cx="4201544" cy="141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55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Server restarted mid-trade in testing; both parties reconnected and settled.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8403" y="9240841"/>
            <a:ext cx="580253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raise</a:t>
            </a:r>
            <a:r>
              <a:rPr lang="en-US" sz="1800">
                <a:solidFill>
                  <a:srgbClr val="39704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466258" y="9240841"/>
            <a:ext cx="729539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07 ·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8403" y="892178"/>
            <a:ext cx="17551403" cy="26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 spc="264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08 / DEVEX 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8403" y="1730378"/>
            <a:ext cx="11987510" cy="79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sz="6435" spc="-353">
                <a:solidFill>
                  <a:srgbClr val="233D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Three frictions worth fixing upstream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40028" y="3522769"/>
            <a:ext cx="5136804" cy="4650861"/>
            <a:chOff x="0" y="0"/>
            <a:chExt cx="6849072" cy="62011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48983" cy="6201117"/>
            </a:xfrm>
            <a:custGeom>
              <a:avLst/>
              <a:gdLst/>
              <a:ahLst/>
              <a:cxnLst/>
              <a:rect l="l" t="t" r="r" b="b"/>
              <a:pathLst>
                <a:path w="6848983" h="6201117">
                  <a:moveTo>
                    <a:pt x="0" y="436149"/>
                  </a:moveTo>
                  <a:cubicBezTo>
                    <a:pt x="0" y="195365"/>
                    <a:pt x="159512" y="0"/>
                    <a:pt x="356108" y="0"/>
                  </a:cubicBezTo>
                  <a:lnTo>
                    <a:pt x="6492875" y="0"/>
                  </a:lnTo>
                  <a:cubicBezTo>
                    <a:pt x="6689598" y="0"/>
                    <a:pt x="6848983" y="195365"/>
                    <a:pt x="6848983" y="436149"/>
                  </a:cubicBezTo>
                  <a:lnTo>
                    <a:pt x="6848983" y="5764969"/>
                  </a:lnTo>
                  <a:cubicBezTo>
                    <a:pt x="6848983" y="6005908"/>
                    <a:pt x="6689471" y="6201117"/>
                    <a:pt x="6492875" y="6201117"/>
                  </a:cubicBezTo>
                  <a:lnTo>
                    <a:pt x="356108" y="6201117"/>
                  </a:lnTo>
                  <a:cubicBezTo>
                    <a:pt x="159512" y="6201117"/>
                    <a:pt x="0" y="6005908"/>
                    <a:pt x="0" y="5764969"/>
                  </a:cubicBezTo>
                  <a:close/>
                </a:path>
              </a:pathLst>
            </a:custGeom>
            <a:solidFill>
              <a:srgbClr val="FFFEF8"/>
            </a:solidFill>
            <a:ln w="5953" cap="sq">
              <a:solidFill>
                <a:srgbClr val="DCDE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31537" y="4472292"/>
            <a:ext cx="4574238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288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MPT TRANSFER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1537" y="5058023"/>
            <a:ext cx="4279916" cy="8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3150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Receiver must opt in first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1537" y="6180020"/>
            <a:ext cx="4574238" cy="44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2"/>
              </a:lnSpc>
            </a:pPr>
            <a:r>
              <a:rPr lang="en-US" sz="2100">
                <a:solidFill>
                  <a:srgbClr val="647166"/>
                </a:solidFill>
                <a:latin typeface="Courier New"/>
                <a:ea typeface="Courier New"/>
                <a:cs typeface="Courier New"/>
                <a:sym typeface="Courier New"/>
              </a:rPr>
              <a:t>Even with CanTransfer=true.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1537" y="6860019"/>
            <a:ext cx="4574238" cy="31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986022"/>
                </a:solidFill>
                <a:latin typeface="Courier New"/>
                <a:ea typeface="Courier New"/>
                <a:cs typeface="Courier New"/>
                <a:sym typeface="Courier New"/>
              </a:rPr>
              <a:t>tecNO_AUTH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75603" y="3522769"/>
            <a:ext cx="5136804" cy="4650861"/>
            <a:chOff x="0" y="0"/>
            <a:chExt cx="6849072" cy="62011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48983" cy="6201004"/>
            </a:xfrm>
            <a:custGeom>
              <a:avLst/>
              <a:gdLst/>
              <a:ahLst/>
              <a:cxnLst/>
              <a:rect l="l" t="t" r="r" b="b"/>
              <a:pathLst>
                <a:path w="6848983" h="6201004">
                  <a:moveTo>
                    <a:pt x="0" y="448204"/>
                  </a:moveTo>
                  <a:cubicBezTo>
                    <a:pt x="0" y="200765"/>
                    <a:pt x="159512" y="0"/>
                    <a:pt x="356108" y="0"/>
                  </a:cubicBezTo>
                  <a:lnTo>
                    <a:pt x="6492875" y="0"/>
                  </a:lnTo>
                  <a:cubicBezTo>
                    <a:pt x="6689598" y="0"/>
                    <a:pt x="6848983" y="200765"/>
                    <a:pt x="6848983" y="448204"/>
                  </a:cubicBezTo>
                  <a:lnTo>
                    <a:pt x="6848983" y="5752800"/>
                  </a:lnTo>
                  <a:cubicBezTo>
                    <a:pt x="6848983" y="6000399"/>
                    <a:pt x="6689471" y="6201004"/>
                    <a:pt x="6492875" y="6201004"/>
                  </a:cubicBezTo>
                  <a:lnTo>
                    <a:pt x="356108" y="6201004"/>
                  </a:lnTo>
                  <a:cubicBezTo>
                    <a:pt x="159512" y="6201161"/>
                    <a:pt x="0" y="6000400"/>
                    <a:pt x="0" y="5752800"/>
                  </a:cubicBezTo>
                  <a:close/>
                </a:path>
              </a:pathLst>
            </a:custGeom>
            <a:solidFill>
              <a:srgbClr val="FFFEF8"/>
            </a:solidFill>
            <a:ln w="5953" cap="sq">
              <a:solidFill>
                <a:srgbClr val="DCDE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067112" y="4523356"/>
            <a:ext cx="4574238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288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BATCH SEMANTICS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67112" y="5109086"/>
            <a:ext cx="4279916" cy="8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3150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Outer success is not inner success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67112" y="6231084"/>
            <a:ext cx="4279916" cy="89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4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We verify inner transactions and metadata.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11177" y="3522769"/>
            <a:ext cx="5136804" cy="4650861"/>
            <a:chOff x="0" y="0"/>
            <a:chExt cx="6849072" cy="62011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49110" cy="6201062"/>
            </a:xfrm>
            <a:custGeom>
              <a:avLst/>
              <a:gdLst/>
              <a:ahLst/>
              <a:cxnLst/>
              <a:rect l="l" t="t" r="r" b="b"/>
              <a:pathLst>
                <a:path w="6849110" h="6201062">
                  <a:moveTo>
                    <a:pt x="0" y="400326"/>
                  </a:moveTo>
                  <a:cubicBezTo>
                    <a:pt x="0" y="179176"/>
                    <a:pt x="159385" y="0"/>
                    <a:pt x="356108" y="0"/>
                  </a:cubicBezTo>
                  <a:lnTo>
                    <a:pt x="6493002" y="0"/>
                  </a:lnTo>
                  <a:cubicBezTo>
                    <a:pt x="6689725" y="0"/>
                    <a:pt x="6849110" y="179176"/>
                    <a:pt x="6849110" y="400326"/>
                  </a:cubicBezTo>
                  <a:lnTo>
                    <a:pt x="6849110" y="5800736"/>
                  </a:lnTo>
                  <a:cubicBezTo>
                    <a:pt x="6849110" y="6021886"/>
                    <a:pt x="6689725" y="6201062"/>
                    <a:pt x="6493002" y="6201062"/>
                  </a:cubicBezTo>
                  <a:lnTo>
                    <a:pt x="356108" y="6201062"/>
                  </a:lnTo>
                  <a:cubicBezTo>
                    <a:pt x="159385" y="6201199"/>
                    <a:pt x="0" y="6021886"/>
                    <a:pt x="0" y="5800736"/>
                  </a:cubicBezTo>
                  <a:close/>
                </a:path>
              </a:pathLst>
            </a:custGeom>
            <a:solidFill>
              <a:srgbClr val="FFFEF8"/>
            </a:solidFill>
            <a:ln w="5953" cap="sq">
              <a:solidFill>
                <a:srgbClr val="DCDE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502686" y="4302347"/>
            <a:ext cx="4574238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288">
                <a:solidFill>
                  <a:srgbClr val="64716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ACCOUNTING MODEL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02686" y="4888078"/>
            <a:ext cx="4279916" cy="8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3150" b="1">
                <a:solidFill>
                  <a:srgbClr val="233D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Interest lands at repayment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02686" y="6010075"/>
            <a:ext cx="4279916" cy="133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4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Not accrued at origination. Reconciled by npm run doctor 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8403" y="9240841"/>
            <a:ext cx="580253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raise</a:t>
            </a:r>
            <a:r>
              <a:rPr lang="en-US" sz="1800">
                <a:solidFill>
                  <a:srgbClr val="39704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66258" y="9240841"/>
            <a:ext cx="729539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16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08 ·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8403" y="892178"/>
            <a:ext cx="17551403" cy="26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 spc="264">
                <a:solidFill>
                  <a:srgbClr val="B3BFAE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09 / CLOSE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583001" y="3061392"/>
            <a:ext cx="1454556" cy="1318759"/>
            <a:chOff x="0" y="0"/>
            <a:chExt cx="1905000" cy="1727149"/>
          </a:xfrm>
        </p:grpSpPr>
        <p:sp>
          <p:nvSpPr>
            <p:cNvPr id="4" name="Freeform 4" descr="preencoded.png"/>
            <p:cNvSpPr/>
            <p:nvPr/>
          </p:nvSpPr>
          <p:spPr>
            <a:xfrm>
              <a:off x="0" y="0"/>
              <a:ext cx="1905000" cy="1727200"/>
            </a:xfrm>
            <a:custGeom>
              <a:avLst/>
              <a:gdLst/>
              <a:ahLst/>
              <a:cxnLst/>
              <a:rect l="l" t="t" r="r" b="b"/>
              <a:pathLst>
                <a:path w="1905000" h="1727200">
                  <a:moveTo>
                    <a:pt x="0" y="0"/>
                  </a:moveTo>
                  <a:lnTo>
                    <a:pt x="1905000" y="0"/>
                  </a:lnTo>
                  <a:lnTo>
                    <a:pt x="19050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450744" y="3132362"/>
            <a:ext cx="4960456" cy="158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313"/>
              </a:lnSpc>
            </a:pPr>
            <a:r>
              <a:rPr lang="en-US" sz="12900" b="1" spc="-579" dirty="0">
                <a:solidFill>
                  <a:srgbClr val="F1F2E6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raise</a:t>
            </a:r>
            <a:r>
              <a:rPr lang="en-US" sz="12900" b="1" spc="-579" dirty="0">
                <a:solidFill>
                  <a:srgbClr val="C5E6A4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11341" y="4972745"/>
            <a:ext cx="14665328" cy="2193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5"/>
              </a:lnSpc>
            </a:pPr>
            <a:r>
              <a:rPr lang="en-US" sz="5400" spc="-216">
                <a:solidFill>
                  <a:srgbClr val="F1F2E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gives open-ended lending vaults a secondary exit: sell your shares to another investor while the loans keep running.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3000" y="9201207"/>
            <a:ext cx="357092" cy="323793"/>
            <a:chOff x="0" y="0"/>
            <a:chExt cx="476123" cy="431724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476123" cy="431673"/>
            </a:xfrm>
            <a:custGeom>
              <a:avLst/>
              <a:gdLst/>
              <a:ahLst/>
              <a:cxnLst/>
              <a:rect l="l" t="t" r="r" b="b"/>
              <a:pathLst>
                <a:path w="476123" h="431673">
                  <a:moveTo>
                    <a:pt x="0" y="0"/>
                  </a:moveTo>
                  <a:lnTo>
                    <a:pt x="476123" y="0"/>
                  </a:lnTo>
                  <a:lnTo>
                    <a:pt x="476123" y="431673"/>
                  </a:lnTo>
                  <a:lnTo>
                    <a:pt x="0" y="43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" r="-7" b="-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77857" y="9233678"/>
            <a:ext cx="580253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1F2E6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raise</a:t>
            </a:r>
            <a:r>
              <a:rPr lang="en-US" sz="1800">
                <a:solidFill>
                  <a:srgbClr val="B8DDA0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6258" y="9233678"/>
            <a:ext cx="729539" cy="29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3BFA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09 ·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922</Words>
  <Application>Microsoft Macintosh PowerPoint</Application>
  <PresentationFormat>Custom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Courier New</vt:lpstr>
      <vt:lpstr> Avenir Next Arabic</vt:lpstr>
      <vt:lpstr>Arimo</vt:lpstr>
      <vt:lpstr>Calibri</vt:lpstr>
      <vt:lpstr> Avenir Next Arabic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_________________Hackathon___Pitch_Deck___ (1).pptx</dc:title>
  <cp:lastModifiedBy>Adam HNAIEN</cp:lastModifiedBy>
  <cp:revision>2</cp:revision>
  <dcterms:created xsi:type="dcterms:W3CDTF">2006-08-16T00:00:00Z</dcterms:created>
  <dcterms:modified xsi:type="dcterms:W3CDTF">2026-09-13T08:27:40Z</dcterms:modified>
  <dc:identifier>DAHVEB0b22k</dc:identifier>
</cp:coreProperties>
</file>